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 : PUBLIC TRANSIT PLANNER</a:t>
            </a:r>
          </a:p>
        </p:txBody>
      </p:sp>
      <p:sp>
        <p:nvSpPr>
          <p:cNvPr id="3" name="Subtitle 2"/>
          <p:cNvSpPr>
            <a:spLocks noGrp="1"/>
          </p:cNvSpPr>
          <p:nvPr>
            <p:ph type="subTitle" idx="1"/>
          </p:nvPr>
        </p:nvSpPr>
        <p:spPr>
          <a:xfrm>
            <a:off x="4270160" y="2867891"/>
            <a:ext cx="4527476" cy="2563091"/>
          </a:xfrm>
        </p:spPr>
        <p:txBody>
          <a:bodyPr/>
          <a:lstStyle/>
          <a:p>
            <a:endParaRPr lang="en-US" dirty="0">
              <a:solidFill>
                <a:srgbClr val="0070C0"/>
              </a:solidFill>
            </a:endParaRPr>
          </a:p>
          <a:p>
            <a:r>
              <a:rPr lang="en-US" sz="1800" dirty="0"/>
              <a:t>PRESENTED BY :</a:t>
            </a:r>
          </a:p>
          <a:p>
            <a:r>
              <a:rPr lang="en-US" sz="1800" dirty="0"/>
              <a:t>2520090005 M SAMPATH</a:t>
            </a:r>
          </a:p>
          <a:p>
            <a:r>
              <a:rPr lang="en-US" sz="1800" dirty="0"/>
              <a:t>2520080064 M SUSHEEL RAO</a:t>
            </a:r>
          </a:p>
          <a:p>
            <a:r>
              <a:rPr lang="en-US" sz="1800" dirty="0"/>
              <a:t>2520090113 S KAUSHIK</a:t>
            </a: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2EE7FAF3-6358-27EE-CB88-267193DC65E7}"/>
              </a:ext>
            </a:extLst>
          </p:cNvPr>
          <p:cNvSpPr txBox="1"/>
          <p:nvPr/>
        </p:nvSpPr>
        <p:spPr>
          <a:xfrm>
            <a:off x="1434308" y="1427749"/>
            <a:ext cx="9323381" cy="4431983"/>
          </a:xfrm>
          <a:prstGeom prst="rect">
            <a:avLst/>
          </a:prstGeom>
          <a:noFill/>
        </p:spPr>
        <p:txBody>
          <a:bodyPr wrap="square" rtlCol="0">
            <a:spAutoFit/>
          </a:bodyPr>
          <a:lstStyle/>
          <a:p>
            <a:r>
              <a:rPr lang="en-US" sz="2400" dirty="0">
                <a:ea typeface="+mn-lt"/>
                <a:cs typeface="+mn-lt"/>
              </a:rPr>
              <a:t>Public Transit Planner is a data-driven system designed to optimize public transportation routes and timetables while considering fixed fleet and budget constraints. The system processes transit stop information, passenger demand, and travel-time data to create efficient and practical transit plans.</a:t>
            </a:r>
            <a:endParaRPr lang="en-US" sz="2400" dirty="0"/>
          </a:p>
          <a:p>
            <a:r>
              <a:rPr lang="en-US" sz="2400" dirty="0">
                <a:ea typeface="+mn-lt"/>
                <a:cs typeface="+mn-lt"/>
              </a:rPr>
              <a:t>Using graph-based routing and optimization techniques, the system aims to maximize route coverage while minimizing passenger travel time and operational costs. It also evaluates routes using metrics such as average waiting time, travel time, fleet utilization, route coverage, and operational expenses. Interactive reports and visualizations help compare different planning scenarios and support better transportation decisions.</a:t>
            </a:r>
            <a:endParaRPr lang="en-US" sz="2400" dirty="0"/>
          </a:p>
          <a:p>
            <a:endParaRPr lang="en-US"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71092FDC-D105-39FD-87E4-16FE3D0994F1}"/>
              </a:ext>
            </a:extLst>
          </p:cNvPr>
          <p:cNvSpPr txBox="1"/>
          <p:nvPr/>
        </p:nvSpPr>
        <p:spPr>
          <a:xfrm>
            <a:off x="1106905" y="1203158"/>
            <a:ext cx="10828421" cy="5262979"/>
          </a:xfrm>
          <a:prstGeom prst="rect">
            <a:avLst/>
          </a:prstGeom>
          <a:noFill/>
        </p:spPr>
        <p:txBody>
          <a:bodyPr wrap="square" rtlCol="0">
            <a:spAutoFit/>
          </a:bodyPr>
          <a:lstStyle/>
          <a:p>
            <a:pPr>
              <a:buFont typeface="Arial"/>
              <a:buChar char="•"/>
            </a:pPr>
            <a:r>
              <a:rPr lang="en-US" sz="2400" dirty="0"/>
              <a:t>Public </a:t>
            </a:r>
            <a:r>
              <a:rPr lang="en-US" sz="2400" dirty="0">
                <a:ea typeface="+mn-lt"/>
                <a:cs typeface="+mn-lt"/>
              </a:rPr>
              <a:t>transportation involves complex route and timetable planning. </a:t>
            </a:r>
            <a:endParaRPr lang="en-US" sz="2400" dirty="0"/>
          </a:p>
          <a:p>
            <a:pPr>
              <a:buFont typeface="Arial"/>
              <a:buChar char="•"/>
            </a:pPr>
            <a:r>
              <a:rPr lang="en-US" sz="2400" dirty="0">
                <a:ea typeface="+mn-lt"/>
                <a:cs typeface="+mn-lt"/>
              </a:rPr>
              <a:t>Increasing passenger demand requires efficient allocation of buses and resources. </a:t>
            </a:r>
            <a:endParaRPr lang="en-US" sz="2400" dirty="0"/>
          </a:p>
          <a:p>
            <a:pPr>
              <a:buFont typeface="Arial"/>
              <a:buChar char="•"/>
            </a:pPr>
            <a:r>
              <a:rPr lang="en-US" sz="2400" dirty="0">
                <a:ea typeface="+mn-lt"/>
                <a:cs typeface="+mn-lt"/>
              </a:rPr>
              <a:t>Traditional planning can result in: </a:t>
            </a:r>
            <a:endParaRPr lang="en-US" sz="2400" dirty="0"/>
          </a:p>
          <a:p>
            <a:pPr marL="971550" lvl="1" indent="-285750">
              <a:buFont typeface="Arial"/>
              <a:buChar char="•"/>
            </a:pPr>
            <a:r>
              <a:rPr lang="en-US" sz="2400" dirty="0">
                <a:ea typeface="+mn-lt"/>
                <a:cs typeface="+mn-lt"/>
              </a:rPr>
              <a:t>Longer waiting times </a:t>
            </a:r>
            <a:endParaRPr lang="en-US" sz="2400" dirty="0"/>
          </a:p>
          <a:p>
            <a:pPr marL="971550" lvl="1" indent="-285750">
              <a:buFont typeface="Arial"/>
              <a:buChar char="•"/>
            </a:pPr>
            <a:r>
              <a:rPr lang="en-US" sz="2400" dirty="0">
                <a:ea typeface="+mn-lt"/>
                <a:cs typeface="+mn-lt"/>
              </a:rPr>
              <a:t>Inefficient routes </a:t>
            </a:r>
            <a:endParaRPr lang="en-US" sz="2400" dirty="0"/>
          </a:p>
          <a:p>
            <a:pPr marL="971550" lvl="1" indent="-285750">
              <a:buFont typeface="Arial"/>
              <a:buChar char="•"/>
            </a:pPr>
            <a:r>
              <a:rPr lang="en-US" sz="2400" dirty="0">
                <a:ea typeface="+mn-lt"/>
                <a:cs typeface="+mn-lt"/>
              </a:rPr>
              <a:t>Poor fleet utilization </a:t>
            </a:r>
            <a:endParaRPr lang="en-US" sz="2400" dirty="0"/>
          </a:p>
          <a:p>
            <a:pPr marL="971550" lvl="1" indent="-285750">
              <a:buFont typeface="Arial"/>
              <a:buChar char="•"/>
            </a:pPr>
            <a:r>
              <a:rPr lang="en-US" sz="2400" dirty="0">
                <a:ea typeface="+mn-lt"/>
                <a:cs typeface="+mn-lt"/>
              </a:rPr>
              <a:t>Higher operational costs </a:t>
            </a:r>
            <a:endParaRPr lang="en-US" sz="2400" dirty="0"/>
          </a:p>
          <a:p>
            <a:pPr>
              <a:buFont typeface="Arial"/>
              <a:buChar char="•"/>
            </a:pPr>
            <a:r>
              <a:rPr lang="en-US" sz="2400" dirty="0">
                <a:ea typeface="+mn-lt"/>
                <a:cs typeface="+mn-lt"/>
              </a:rPr>
              <a:t>The proposed system uses Data Structures, Algorithms, and Data Analytics to improve transit planning. </a:t>
            </a:r>
            <a:endParaRPr lang="en-US" sz="2400" dirty="0"/>
          </a:p>
          <a:p>
            <a:pPr>
              <a:buFont typeface="Arial"/>
              <a:buChar char="•"/>
            </a:pPr>
            <a:r>
              <a:rPr lang="en-US" sz="2400" dirty="0">
                <a:ea typeface="+mn-lt"/>
                <a:cs typeface="+mn-lt"/>
              </a:rPr>
              <a:t>It provides a data-driven approach for selecting efficient routes and schedules. </a:t>
            </a:r>
            <a:endParaRPr lang="en-US" sz="2400" dirty="0"/>
          </a:p>
          <a:p>
            <a:pPr indent="0">
              <a:buNone/>
            </a:pPr>
            <a:r>
              <a:rPr lang="en-US" sz="2400" dirty="0">
                <a:ea typeface="+mn-lt"/>
                <a:cs typeface="+mn-lt"/>
              </a:rPr>
              <a:t>Key idea:</a:t>
            </a:r>
          </a:p>
          <a:p>
            <a:pPr indent="0">
              <a:buNone/>
            </a:pPr>
            <a:r>
              <a:rPr lang="en-US" sz="2400" dirty="0">
                <a:ea typeface="+mn-lt"/>
                <a:cs typeface="+mn-lt"/>
              </a:rPr>
              <a:t>Optimize routes and timetables while balancing passenger needs, fleet availability, and operating costs.</a:t>
            </a:r>
            <a:endParaRPr lang="en-US" sz="2400" dirty="0"/>
          </a:p>
          <a:p>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6" name="Table 5">
            <a:extLst>
              <a:ext uri="{FF2B5EF4-FFF2-40B4-BE49-F238E27FC236}">
                <a16:creationId xmlns:a16="http://schemas.microsoft.com/office/drawing/2014/main" id="{F00E2F87-F962-BA97-B165-DB3207890D4D}"/>
              </a:ext>
            </a:extLst>
          </p:cNvPr>
          <p:cNvGraphicFramePr>
            <a:graphicFrameLocks noGrp="1"/>
          </p:cNvGraphicFramePr>
          <p:nvPr>
            <p:extLst>
              <p:ext uri="{D42A27DB-BD31-4B8C-83A1-F6EECF244321}">
                <p14:modId xmlns:p14="http://schemas.microsoft.com/office/powerpoint/2010/main" val="2832940682"/>
              </p:ext>
            </p:extLst>
          </p:nvPr>
        </p:nvGraphicFramePr>
        <p:xfrm>
          <a:off x="1957354" y="1054359"/>
          <a:ext cx="8157030" cy="3673980"/>
        </p:xfrm>
        <a:graphic>
          <a:graphicData uri="http://schemas.openxmlformats.org/drawingml/2006/table">
            <a:tbl>
              <a:tblPr firstRow="1" bandRow="1">
                <a:tableStyleId>{C083E6E3-FA7D-4D7B-A595-EF9225AFEA82}</a:tableStyleId>
              </a:tblPr>
              <a:tblGrid>
                <a:gridCol w="2719010">
                  <a:extLst>
                    <a:ext uri="{9D8B030D-6E8A-4147-A177-3AD203B41FA5}">
                      <a16:colId xmlns:a16="http://schemas.microsoft.com/office/drawing/2014/main" val="2804999818"/>
                    </a:ext>
                  </a:extLst>
                </a:gridCol>
                <a:gridCol w="2719010">
                  <a:extLst>
                    <a:ext uri="{9D8B030D-6E8A-4147-A177-3AD203B41FA5}">
                      <a16:colId xmlns:a16="http://schemas.microsoft.com/office/drawing/2014/main" val="1574390477"/>
                    </a:ext>
                  </a:extLst>
                </a:gridCol>
                <a:gridCol w="2719010">
                  <a:extLst>
                    <a:ext uri="{9D8B030D-6E8A-4147-A177-3AD203B41FA5}">
                      <a16:colId xmlns:a16="http://schemas.microsoft.com/office/drawing/2014/main" val="3385387284"/>
                    </a:ext>
                  </a:extLst>
                </a:gridCol>
              </a:tblGrid>
              <a:tr h="424462">
                <a:tc>
                  <a:txBody>
                    <a:bodyPr/>
                    <a:lstStyle/>
                    <a:p>
                      <a:pPr>
                        <a:buNone/>
                      </a:pPr>
                      <a:r>
                        <a:rPr lang="en-US" sz="1400" cap="none" spc="0" dirty="0">
                          <a:solidFill>
                            <a:schemeClr val="tx1"/>
                          </a:solidFill>
                        </a:rPr>
                        <a:t>Existing Approach</a:t>
                      </a:r>
                    </a:p>
                  </a:txBody>
                  <a:tcPr marL="141798" marR="109075" marT="109075" marB="109075" anchor="ctr"/>
                </a:tc>
                <a:tc>
                  <a:txBody>
                    <a:bodyPr/>
                    <a:lstStyle/>
                    <a:p>
                      <a:pPr>
                        <a:buNone/>
                      </a:pPr>
                      <a:r>
                        <a:rPr lang="en-US" sz="1400" cap="none" spc="0">
                          <a:solidFill>
                            <a:schemeClr val="tx1"/>
                          </a:solidFill>
                        </a:rPr>
                        <a:t>Technique Used</a:t>
                      </a:r>
                    </a:p>
                  </a:txBody>
                  <a:tcPr marL="141798" marR="109075" marT="109075" marB="109075" anchor="ctr"/>
                </a:tc>
                <a:tc>
                  <a:txBody>
                    <a:bodyPr/>
                    <a:lstStyle/>
                    <a:p>
                      <a:pPr>
                        <a:buNone/>
                      </a:pPr>
                      <a:r>
                        <a:rPr lang="en-US" sz="1400" cap="none" spc="0">
                          <a:solidFill>
                            <a:schemeClr val="tx1"/>
                          </a:solidFill>
                        </a:rPr>
                        <a:t>Limitation</a:t>
                      </a:r>
                    </a:p>
                  </a:txBody>
                  <a:tcPr marL="141798" marR="109075" marT="109075" marB="109075" anchor="ctr"/>
                </a:tc>
                <a:extLst>
                  <a:ext uri="{0D108BD9-81ED-4DB2-BD59-A6C34878D82A}">
                    <a16:rowId xmlns:a16="http://schemas.microsoft.com/office/drawing/2014/main" val="2547758571"/>
                  </a:ext>
                </a:extLst>
              </a:tr>
              <a:tr h="648494">
                <a:tc>
                  <a:txBody>
                    <a:bodyPr/>
                    <a:lstStyle/>
                    <a:p>
                      <a:pPr>
                        <a:buNone/>
                      </a:pPr>
                      <a:r>
                        <a:rPr lang="en-US" sz="1400" cap="none" spc="0" dirty="0">
                          <a:solidFill>
                            <a:schemeClr val="tx1"/>
                          </a:solidFill>
                        </a:rPr>
                        <a:t>Traditional Transit Planning</a:t>
                      </a:r>
                    </a:p>
                  </a:txBody>
                  <a:tcPr marL="141798" marR="109075" marT="109075" marB="109075" anchor="ctr"/>
                </a:tc>
                <a:tc>
                  <a:txBody>
                    <a:bodyPr/>
                    <a:lstStyle/>
                    <a:p>
                      <a:pPr>
                        <a:buNone/>
                      </a:pPr>
                      <a:r>
                        <a:rPr lang="en-US" sz="1400" cap="none" spc="0">
                          <a:solidFill>
                            <a:schemeClr val="tx1"/>
                          </a:solidFill>
                        </a:rPr>
                        <a:t>Manual route &amp; timetable planning</a:t>
                      </a:r>
                    </a:p>
                  </a:txBody>
                  <a:tcPr marL="141798" marR="109075" marT="109075" marB="109075" anchor="ctr"/>
                </a:tc>
                <a:tc>
                  <a:txBody>
                    <a:bodyPr/>
                    <a:lstStyle/>
                    <a:p>
                      <a:pPr>
                        <a:buNone/>
                      </a:pPr>
                      <a:r>
                        <a:rPr lang="en-US" sz="1400" cap="none" spc="0">
                          <a:solidFill>
                            <a:schemeClr val="tx1"/>
                          </a:solidFill>
                        </a:rPr>
                        <a:t>Time-consuming</a:t>
                      </a:r>
                    </a:p>
                  </a:txBody>
                  <a:tcPr marL="141798" marR="109075" marT="109075" marB="109075" anchor="ctr"/>
                </a:tc>
                <a:extLst>
                  <a:ext uri="{0D108BD9-81ED-4DB2-BD59-A6C34878D82A}">
                    <a16:rowId xmlns:a16="http://schemas.microsoft.com/office/drawing/2014/main" val="1179452988"/>
                  </a:ext>
                </a:extLst>
              </a:tr>
              <a:tr h="648494">
                <a:tc>
                  <a:txBody>
                    <a:bodyPr/>
                    <a:lstStyle/>
                    <a:p>
                      <a:pPr>
                        <a:buNone/>
                      </a:pPr>
                      <a:r>
                        <a:rPr lang="en-US" sz="1400" cap="none" spc="0" dirty="0">
                          <a:solidFill>
                            <a:schemeClr val="tx1"/>
                          </a:solidFill>
                        </a:rPr>
                        <a:t>Shortest Path Systems</a:t>
                      </a:r>
                    </a:p>
                  </a:txBody>
                  <a:tcPr marL="141798" marR="109075" marT="109075" marB="109075" anchor="ctr"/>
                </a:tc>
                <a:tc>
                  <a:txBody>
                    <a:bodyPr/>
                    <a:lstStyle/>
                    <a:p>
                      <a:pPr>
                        <a:buNone/>
                      </a:pPr>
                      <a:r>
                        <a:rPr lang="en-US" sz="1400" cap="none" spc="0">
                          <a:solidFill>
                            <a:schemeClr val="tx1"/>
                          </a:solidFill>
                        </a:rPr>
                        <a:t>Graph algorithms</a:t>
                      </a:r>
                    </a:p>
                  </a:txBody>
                  <a:tcPr marL="141798" marR="109075" marT="109075" marB="109075" anchor="ctr"/>
                </a:tc>
                <a:tc>
                  <a:txBody>
                    <a:bodyPr/>
                    <a:lstStyle/>
                    <a:p>
                      <a:pPr>
                        <a:buNone/>
                      </a:pPr>
                      <a:r>
                        <a:rPr lang="en-US" sz="1400" cap="none" spc="0">
                          <a:solidFill>
                            <a:schemeClr val="tx1"/>
                          </a:solidFill>
                        </a:rPr>
                        <a:t>Mainly focuses on travel distance/time</a:t>
                      </a:r>
                    </a:p>
                  </a:txBody>
                  <a:tcPr marL="141798" marR="109075" marT="109075" marB="109075" anchor="ctr"/>
                </a:tc>
                <a:extLst>
                  <a:ext uri="{0D108BD9-81ED-4DB2-BD59-A6C34878D82A}">
                    <a16:rowId xmlns:a16="http://schemas.microsoft.com/office/drawing/2014/main" val="2779041112"/>
                  </a:ext>
                </a:extLst>
              </a:tr>
              <a:tr h="648494">
                <a:tc>
                  <a:txBody>
                    <a:bodyPr/>
                    <a:lstStyle/>
                    <a:p>
                      <a:pPr>
                        <a:buNone/>
                      </a:pPr>
                      <a:r>
                        <a:rPr lang="en-US" sz="1400" cap="none" spc="0">
                          <a:solidFill>
                            <a:schemeClr val="tx1"/>
                          </a:solidFill>
                        </a:rPr>
                        <a:t>Demand-Based Planning</a:t>
                      </a:r>
                    </a:p>
                  </a:txBody>
                  <a:tcPr marL="141798" marR="109075" marT="109075" marB="109075" anchor="ctr"/>
                </a:tc>
                <a:tc>
                  <a:txBody>
                    <a:bodyPr/>
                    <a:lstStyle/>
                    <a:p>
                      <a:pPr>
                        <a:buNone/>
                      </a:pPr>
                      <a:r>
                        <a:rPr lang="en-US" sz="1400" cap="none" spc="0">
                          <a:solidFill>
                            <a:schemeClr val="tx1"/>
                          </a:solidFill>
                        </a:rPr>
                        <a:t>Passenger demand analysis</a:t>
                      </a:r>
                    </a:p>
                  </a:txBody>
                  <a:tcPr marL="141798" marR="109075" marT="109075" marB="109075" anchor="ctr"/>
                </a:tc>
                <a:tc>
                  <a:txBody>
                    <a:bodyPr/>
                    <a:lstStyle/>
                    <a:p>
                      <a:pPr>
                        <a:buNone/>
                      </a:pPr>
                      <a:r>
                        <a:rPr lang="en-US" sz="1400" cap="none" spc="0">
                          <a:solidFill>
                            <a:schemeClr val="tx1"/>
                          </a:solidFill>
                        </a:rPr>
                        <a:t>May not consider fleet constraints</a:t>
                      </a:r>
                    </a:p>
                  </a:txBody>
                  <a:tcPr marL="141798" marR="109075" marT="109075" marB="109075" anchor="ctr"/>
                </a:tc>
                <a:extLst>
                  <a:ext uri="{0D108BD9-81ED-4DB2-BD59-A6C34878D82A}">
                    <a16:rowId xmlns:a16="http://schemas.microsoft.com/office/drawing/2014/main" val="836627358"/>
                  </a:ext>
                </a:extLst>
              </a:tr>
              <a:tr h="648494">
                <a:tc>
                  <a:txBody>
                    <a:bodyPr/>
                    <a:lstStyle/>
                    <a:p>
                      <a:pPr>
                        <a:buNone/>
                      </a:pPr>
                      <a:r>
                        <a:rPr lang="en-US" sz="1400" cap="none" spc="0">
                          <a:solidFill>
                            <a:schemeClr val="tx1"/>
                          </a:solidFill>
                        </a:rPr>
                        <a:t>Optimization-Based Planning</a:t>
                      </a:r>
                    </a:p>
                  </a:txBody>
                  <a:tcPr marL="141798" marR="109075" marT="109075" marB="109075" anchor="ctr"/>
                </a:tc>
                <a:tc>
                  <a:txBody>
                    <a:bodyPr/>
                    <a:lstStyle/>
                    <a:p>
                      <a:pPr>
                        <a:buNone/>
                      </a:pPr>
                      <a:r>
                        <a:rPr lang="en-US" sz="1400" cap="none" spc="0">
                          <a:solidFill>
                            <a:schemeClr val="tx1"/>
                          </a:solidFill>
                        </a:rPr>
                        <a:t>Optimization algorithms</a:t>
                      </a:r>
                    </a:p>
                  </a:txBody>
                  <a:tcPr marL="141798" marR="109075" marT="109075" marB="109075" anchor="ctr"/>
                </a:tc>
                <a:tc>
                  <a:txBody>
                    <a:bodyPr/>
                    <a:lstStyle/>
                    <a:p>
                      <a:pPr>
                        <a:buNone/>
                      </a:pPr>
                      <a:r>
                        <a:rPr lang="en-US" sz="1400" cap="none" spc="0">
                          <a:solidFill>
                            <a:schemeClr val="tx1"/>
                          </a:solidFill>
                        </a:rPr>
                        <a:t>Can be computationally complex</a:t>
                      </a:r>
                    </a:p>
                  </a:txBody>
                  <a:tcPr marL="141798" marR="109075" marT="109075" marB="109075" anchor="ctr"/>
                </a:tc>
                <a:extLst>
                  <a:ext uri="{0D108BD9-81ED-4DB2-BD59-A6C34878D82A}">
                    <a16:rowId xmlns:a16="http://schemas.microsoft.com/office/drawing/2014/main" val="26518889"/>
                  </a:ext>
                </a:extLst>
              </a:tr>
              <a:tr h="648494">
                <a:tc>
                  <a:txBody>
                    <a:bodyPr/>
                    <a:lstStyle/>
                    <a:p>
                      <a:pPr>
                        <a:buNone/>
                      </a:pPr>
                      <a:r>
                        <a:rPr lang="en-US" sz="1400" cap="none" spc="0">
                          <a:solidFill>
                            <a:schemeClr val="tx1"/>
                          </a:solidFill>
                        </a:rPr>
                        <a:t>Proposed System</a:t>
                      </a:r>
                    </a:p>
                  </a:txBody>
                  <a:tcPr marL="141798" marR="109075" marT="109075" marB="109075" anchor="ctr"/>
                </a:tc>
                <a:tc>
                  <a:txBody>
                    <a:bodyPr/>
                    <a:lstStyle/>
                    <a:p>
                      <a:pPr>
                        <a:buNone/>
                      </a:pPr>
                      <a:r>
                        <a:rPr lang="en-US" sz="1400" cap="none" spc="0">
                          <a:solidFill>
                            <a:schemeClr val="tx1"/>
                          </a:solidFill>
                        </a:rPr>
                        <a:t>Graph + Optimization + Analytics</a:t>
                      </a:r>
                    </a:p>
                  </a:txBody>
                  <a:tcPr marL="141798" marR="109075" marT="109075" marB="109075" anchor="ctr"/>
                </a:tc>
                <a:tc>
                  <a:txBody>
                    <a:bodyPr/>
                    <a:lstStyle/>
                    <a:p>
                      <a:pPr>
                        <a:buNone/>
                      </a:pPr>
                      <a:r>
                        <a:rPr lang="en-US" sz="1400" cap="none" spc="0" dirty="0">
                          <a:solidFill>
                            <a:schemeClr val="tx1"/>
                          </a:solidFill>
                        </a:rPr>
                        <a:t>Considers multiple planning constraints</a:t>
                      </a:r>
                    </a:p>
                  </a:txBody>
                  <a:tcPr marL="141798" marR="109075" marT="109075" marB="109075" anchor="ctr"/>
                </a:tc>
                <a:extLst>
                  <a:ext uri="{0D108BD9-81ED-4DB2-BD59-A6C34878D82A}">
                    <a16:rowId xmlns:a16="http://schemas.microsoft.com/office/drawing/2014/main" val="16624030"/>
                  </a:ext>
                </a:extLst>
              </a:tr>
            </a:tbl>
          </a:graphicData>
        </a:graphic>
      </p:graphicFrame>
      <p:sp>
        <p:nvSpPr>
          <p:cNvPr id="9" name="TextBox 8">
            <a:extLst>
              <a:ext uri="{FF2B5EF4-FFF2-40B4-BE49-F238E27FC236}">
                <a16:creationId xmlns:a16="http://schemas.microsoft.com/office/drawing/2014/main" id="{3F51003E-3374-26DC-0260-DD4BC6186ACC}"/>
              </a:ext>
            </a:extLst>
          </p:cNvPr>
          <p:cNvSpPr txBox="1"/>
          <p:nvPr/>
        </p:nvSpPr>
        <p:spPr>
          <a:xfrm>
            <a:off x="1957354" y="5003958"/>
            <a:ext cx="7836405" cy="1477328"/>
          </a:xfrm>
          <a:prstGeom prst="rect">
            <a:avLst/>
          </a:prstGeom>
          <a:noFill/>
        </p:spPr>
        <p:txBody>
          <a:bodyPr wrap="square">
            <a:spAutoFit/>
          </a:bodyPr>
          <a:lstStyle/>
          <a:p>
            <a:r>
              <a:rPr lang="en-US" sz="1800" b="1" dirty="0"/>
              <a:t>Research Gap</a:t>
            </a:r>
          </a:p>
          <a:p>
            <a:pPr>
              <a:buFont typeface=""/>
              <a:buChar char="•"/>
            </a:pPr>
            <a:r>
              <a:rPr lang="en-US" sz="1800" dirty="0"/>
              <a:t>Existing approaches may focus on only one factor such as distance or travel time. </a:t>
            </a:r>
          </a:p>
          <a:p>
            <a:pPr>
              <a:buFont typeface=""/>
              <a:buChar char="•"/>
            </a:pPr>
            <a:r>
              <a:rPr lang="en-US" sz="1800" dirty="0"/>
              <a:t>There is a need to consider route coverage, passenger demand, fleet availability, and operational cost  together. </a:t>
            </a:r>
          </a:p>
          <a:p>
            <a:pPr>
              <a:buFont typeface=""/>
              <a:buChar char="•"/>
            </a:pPr>
            <a:r>
              <a:rPr lang="en-US" sz="1800" dirty="0"/>
              <a:t>The proposed planner combines these factors to support better decision-making.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1A68E70C-D8A7-A981-FA29-1EEFEE589740}"/>
              </a:ext>
            </a:extLst>
          </p:cNvPr>
          <p:cNvSpPr txBox="1"/>
          <p:nvPr/>
        </p:nvSpPr>
        <p:spPr>
          <a:xfrm>
            <a:off x="593558" y="1582340"/>
            <a:ext cx="11325726" cy="4708981"/>
          </a:xfrm>
          <a:prstGeom prst="rect">
            <a:avLst/>
          </a:prstGeom>
          <a:noFill/>
        </p:spPr>
        <p:txBody>
          <a:bodyPr wrap="square" rtlCol="0">
            <a:spAutoFit/>
          </a:bodyPr>
          <a:lstStyle/>
          <a:p>
            <a:r>
              <a:rPr lang="en-US" sz="2000" b="1" dirty="0"/>
              <a:t>Problem Statement</a:t>
            </a:r>
            <a:endParaRPr lang="en-US" sz="2000" dirty="0"/>
          </a:p>
          <a:p>
            <a:r>
              <a:rPr lang="en-US" sz="2000" dirty="0">
                <a:ea typeface="+mn-lt"/>
                <a:cs typeface="+mn-lt"/>
              </a:rPr>
              <a:t>Public transportation systems need to provide adequate route coverage and efficient schedules while operating with limited vehicles and budgets. Poor route planning can increase passenger waiting time, travel time, and operating expenses.</a:t>
            </a:r>
            <a:endParaRPr lang="en-US" sz="2000" dirty="0"/>
          </a:p>
          <a:p>
            <a:r>
              <a:rPr lang="en-US" sz="2000" b="1" dirty="0"/>
              <a:t>Objectives</a:t>
            </a:r>
          </a:p>
          <a:p>
            <a:r>
              <a:rPr lang="en-US" sz="2000" dirty="0">
                <a:ea typeface="+mn-lt"/>
                <a:cs typeface="+mn-lt"/>
              </a:rPr>
              <a:t>Collect and clean transit-related data. </a:t>
            </a:r>
            <a:endParaRPr lang="en-US" sz="2000" dirty="0"/>
          </a:p>
          <a:p>
            <a:r>
              <a:rPr lang="en-US" sz="2000" dirty="0">
                <a:ea typeface="+mn-lt"/>
                <a:cs typeface="+mn-lt"/>
              </a:rPr>
              <a:t>Represent transit networks using graphs. </a:t>
            </a:r>
            <a:endParaRPr lang="en-US" sz="2000" dirty="0"/>
          </a:p>
          <a:p>
            <a:r>
              <a:rPr lang="en-US" sz="2000" dirty="0">
                <a:ea typeface="+mn-lt"/>
                <a:cs typeface="+mn-lt"/>
              </a:rPr>
              <a:t>Identify efficient transportation routes. </a:t>
            </a:r>
            <a:endParaRPr lang="en-US" sz="2000" dirty="0"/>
          </a:p>
          <a:p>
            <a:r>
              <a:rPr lang="en-US" sz="2000" dirty="0">
                <a:ea typeface="+mn-lt"/>
                <a:cs typeface="+mn-lt"/>
              </a:rPr>
              <a:t>Maximize route and service coverage. </a:t>
            </a:r>
            <a:endParaRPr lang="en-US" sz="2000" dirty="0"/>
          </a:p>
          <a:p>
            <a:r>
              <a:rPr lang="en-US" sz="2000" dirty="0">
                <a:ea typeface="+mn-lt"/>
                <a:cs typeface="+mn-lt"/>
              </a:rPr>
              <a:t>Minimize passenger travel and waiting time. </a:t>
            </a:r>
            <a:endParaRPr lang="en-US" sz="2000" dirty="0"/>
          </a:p>
          <a:p>
            <a:r>
              <a:rPr lang="en-US" sz="2000" dirty="0">
                <a:ea typeface="+mn-lt"/>
                <a:cs typeface="+mn-lt"/>
              </a:rPr>
              <a:t>Optimize fleet utilization. </a:t>
            </a:r>
            <a:endParaRPr lang="en-US" sz="2000" dirty="0"/>
          </a:p>
          <a:p>
            <a:r>
              <a:rPr lang="en-US" sz="2000" dirty="0">
                <a:ea typeface="+mn-lt"/>
                <a:cs typeface="+mn-lt"/>
              </a:rPr>
              <a:t>Generate practical timetables. </a:t>
            </a:r>
            <a:endParaRPr lang="en-US" sz="2000" dirty="0"/>
          </a:p>
          <a:p>
            <a:r>
              <a:rPr lang="en-US" sz="2000" dirty="0">
                <a:ea typeface="+mn-lt"/>
                <a:cs typeface="+mn-lt"/>
              </a:rPr>
              <a:t>Reduce operational expenses. </a:t>
            </a:r>
            <a:endParaRPr lang="en-US" sz="2000" dirty="0"/>
          </a:p>
          <a:p>
            <a:r>
              <a:rPr lang="en-US" sz="2000" dirty="0">
                <a:ea typeface="+mn-lt"/>
                <a:cs typeface="+mn-lt"/>
              </a:rPr>
              <a:t>Compare different planning scenarios through visualizations.</a:t>
            </a:r>
            <a:endParaRPr lang="en-US" sz="2000" dirty="0"/>
          </a:p>
          <a:p>
            <a:endParaRPr lang="en-US" sz="2000"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E38A6298-8293-15A9-9308-442709145836}"/>
              </a:ext>
            </a:extLst>
          </p:cNvPr>
          <p:cNvSpPr txBox="1"/>
          <p:nvPr/>
        </p:nvSpPr>
        <p:spPr>
          <a:xfrm>
            <a:off x="1319114" y="946484"/>
            <a:ext cx="9553769" cy="6370975"/>
          </a:xfrm>
          <a:prstGeom prst="rect">
            <a:avLst/>
          </a:prstGeom>
          <a:noFill/>
        </p:spPr>
        <p:txBody>
          <a:bodyPr wrap="none" rtlCol="0">
            <a:spAutoFit/>
          </a:bodyPr>
          <a:lstStyle/>
          <a:p>
            <a:pPr>
              <a:buNone/>
            </a:pPr>
            <a:r>
              <a:rPr lang="en-US" sz="2400" b="1" dirty="0"/>
              <a:t>Expected/Obtained Results</a:t>
            </a:r>
          </a:p>
          <a:p>
            <a:pPr>
              <a:buNone/>
            </a:pPr>
            <a:r>
              <a:rPr lang="en-US" sz="2400" dirty="0">
                <a:ea typeface="+mn-lt"/>
                <a:cs typeface="+mn-lt"/>
              </a:rPr>
              <a:t> The system evaluates transit planning using several important metrics:</a:t>
            </a:r>
            <a:endParaRPr lang="en-US" sz="2400" dirty="0"/>
          </a:p>
          <a:p>
            <a:pPr>
              <a:buFont typeface="Arial"/>
              <a:buChar char="•"/>
            </a:pPr>
            <a:r>
              <a:rPr lang="en-US" sz="2400" b="1" dirty="0">
                <a:ea typeface="+mn-lt"/>
                <a:cs typeface="+mn-lt"/>
              </a:rPr>
              <a:t>Route Coverage</a:t>
            </a:r>
            <a:r>
              <a:rPr lang="en-US" sz="2400" dirty="0">
                <a:ea typeface="+mn-lt"/>
                <a:cs typeface="+mn-lt"/>
              </a:rPr>
              <a:t> – Percentage of required areas/stops served. </a:t>
            </a:r>
            <a:endParaRPr lang="en-US" sz="2400" dirty="0"/>
          </a:p>
          <a:p>
            <a:pPr>
              <a:buFont typeface="Arial"/>
              <a:buChar char="•"/>
            </a:pPr>
            <a:r>
              <a:rPr lang="en-US" sz="2400" b="1" dirty="0">
                <a:ea typeface="+mn-lt"/>
                <a:cs typeface="+mn-lt"/>
              </a:rPr>
              <a:t>Average Waiting Time</a:t>
            </a:r>
            <a:r>
              <a:rPr lang="en-US" sz="2400" dirty="0">
                <a:ea typeface="+mn-lt"/>
                <a:cs typeface="+mn-lt"/>
              </a:rPr>
              <a:t> – Average time passengers wait for service. </a:t>
            </a:r>
            <a:endParaRPr lang="en-US" sz="2400" dirty="0"/>
          </a:p>
          <a:p>
            <a:pPr>
              <a:buFont typeface="Arial"/>
              <a:buChar char="•"/>
            </a:pPr>
            <a:r>
              <a:rPr lang="en-US" sz="2400" b="1" dirty="0">
                <a:ea typeface="+mn-lt"/>
                <a:cs typeface="+mn-lt"/>
              </a:rPr>
              <a:t>Travel Time</a:t>
            </a:r>
            <a:r>
              <a:rPr lang="en-US" sz="2400" dirty="0">
                <a:ea typeface="+mn-lt"/>
                <a:cs typeface="+mn-lt"/>
              </a:rPr>
              <a:t> – Time required to reach destinations. </a:t>
            </a:r>
            <a:endParaRPr lang="en-US" sz="2400" dirty="0"/>
          </a:p>
          <a:p>
            <a:pPr>
              <a:buFont typeface="Arial"/>
              <a:buChar char="•"/>
            </a:pPr>
            <a:r>
              <a:rPr lang="en-US" sz="2400" b="1" dirty="0">
                <a:ea typeface="+mn-lt"/>
                <a:cs typeface="+mn-lt"/>
              </a:rPr>
              <a:t>Fleet Utilization</a:t>
            </a:r>
            <a:r>
              <a:rPr lang="en-US" sz="2400" dirty="0">
                <a:ea typeface="+mn-lt"/>
                <a:cs typeface="+mn-lt"/>
              </a:rPr>
              <a:t> – How efficiently available vehicles are used. </a:t>
            </a:r>
            <a:endParaRPr lang="en-US" sz="2400" dirty="0"/>
          </a:p>
          <a:p>
            <a:pPr>
              <a:buFont typeface="Arial"/>
              <a:buChar char="•"/>
            </a:pPr>
            <a:r>
              <a:rPr lang="en-US" sz="2400" b="1" dirty="0">
                <a:ea typeface="+mn-lt"/>
                <a:cs typeface="+mn-lt"/>
              </a:rPr>
              <a:t>Operational Expenses</a:t>
            </a:r>
            <a:r>
              <a:rPr lang="en-US" sz="2400" dirty="0">
                <a:ea typeface="+mn-lt"/>
                <a:cs typeface="+mn-lt"/>
              </a:rPr>
              <a:t> – Cost associated with running the selected routes. </a:t>
            </a:r>
            <a:endParaRPr lang="en-US" sz="2400" dirty="0"/>
          </a:p>
          <a:p>
            <a:pPr indent="0">
              <a:buNone/>
            </a:pPr>
            <a:r>
              <a:rPr lang="en-US" sz="2400" b="1" dirty="0"/>
              <a:t>Results can be shown using:</a:t>
            </a:r>
          </a:p>
          <a:p>
            <a:pPr>
              <a:buFont typeface="Arial"/>
              <a:buChar char="•"/>
            </a:pPr>
            <a:r>
              <a:rPr lang="en-US" sz="2400" dirty="0">
                <a:ea typeface="+mn-lt"/>
                <a:cs typeface="+mn-lt"/>
              </a:rPr>
              <a:t>Route/network graph </a:t>
            </a:r>
            <a:endParaRPr lang="en-US" sz="2400" dirty="0"/>
          </a:p>
          <a:p>
            <a:pPr>
              <a:buFont typeface="Arial"/>
              <a:buChar char="•"/>
            </a:pPr>
            <a:r>
              <a:rPr lang="en-US" sz="2400" dirty="0">
                <a:ea typeface="+mn-lt"/>
                <a:cs typeface="+mn-lt"/>
              </a:rPr>
              <a:t>Optimized route output </a:t>
            </a:r>
            <a:endParaRPr lang="en-US" sz="2400" dirty="0"/>
          </a:p>
          <a:p>
            <a:pPr>
              <a:buFont typeface="Arial"/>
              <a:buChar char="•"/>
            </a:pPr>
            <a:r>
              <a:rPr lang="en-US" sz="2400" dirty="0">
                <a:ea typeface="+mn-lt"/>
                <a:cs typeface="+mn-lt"/>
              </a:rPr>
              <a:t>Timetable </a:t>
            </a:r>
            <a:endParaRPr lang="en-US" sz="2400" dirty="0"/>
          </a:p>
          <a:p>
            <a:pPr>
              <a:buFont typeface="Arial"/>
              <a:buChar char="•"/>
            </a:pPr>
            <a:r>
              <a:rPr lang="en-US" sz="2400" dirty="0">
                <a:ea typeface="+mn-lt"/>
                <a:cs typeface="+mn-lt"/>
              </a:rPr>
              <a:t>Bar chart comparing routes </a:t>
            </a:r>
            <a:endParaRPr lang="en-US" sz="2400" dirty="0"/>
          </a:p>
          <a:p>
            <a:pPr>
              <a:buFont typeface="Arial"/>
              <a:buChar char="•"/>
            </a:pPr>
            <a:r>
              <a:rPr lang="en-US" sz="2400" dirty="0">
                <a:ea typeface="+mn-lt"/>
                <a:cs typeface="+mn-lt"/>
              </a:rPr>
              <a:t>Waiting-time comparison </a:t>
            </a:r>
            <a:endParaRPr lang="en-US" sz="2400" dirty="0"/>
          </a:p>
          <a:p>
            <a:pPr>
              <a:buFont typeface="Arial"/>
              <a:buChar char="•"/>
            </a:pPr>
            <a:r>
              <a:rPr lang="en-US" sz="2400" dirty="0">
                <a:ea typeface="+mn-lt"/>
                <a:cs typeface="+mn-lt"/>
              </a:rPr>
              <a:t>Fleet utilization chart </a:t>
            </a:r>
            <a:endParaRPr lang="en-US" sz="2400" dirty="0"/>
          </a:p>
          <a:p>
            <a:pPr>
              <a:buFont typeface="Arial"/>
              <a:buChar char="•"/>
            </a:pPr>
            <a:r>
              <a:rPr lang="en-US" sz="2400" dirty="0">
                <a:ea typeface="+mn-lt"/>
                <a:cs typeface="+mn-lt"/>
              </a:rPr>
              <a:t>Cost comparison</a:t>
            </a:r>
            <a:endParaRPr lang="en-US" sz="2400" dirty="0"/>
          </a:p>
          <a:p>
            <a:endParaRPr lang="en-US" sz="2400" dirty="0"/>
          </a:p>
          <a:p>
            <a:endParaRPr lang="en-IN" sz="2400"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F352F67F-BFAA-26E9-7538-A839DCDCFF28}"/>
              </a:ext>
            </a:extLst>
          </p:cNvPr>
          <p:cNvSpPr txBox="1"/>
          <p:nvPr/>
        </p:nvSpPr>
        <p:spPr>
          <a:xfrm>
            <a:off x="1732547" y="1225689"/>
            <a:ext cx="8105745" cy="5632311"/>
          </a:xfrm>
          <a:prstGeom prst="rect">
            <a:avLst/>
          </a:prstGeom>
          <a:noFill/>
        </p:spPr>
        <p:txBody>
          <a:bodyPr wrap="none" rtlCol="0">
            <a:spAutoFit/>
          </a:bodyPr>
          <a:lstStyle/>
          <a:p>
            <a:r>
              <a:rPr lang="en-US" sz="2400" b="1" dirty="0"/>
              <a:t>Hardware Requirements</a:t>
            </a:r>
          </a:p>
          <a:p>
            <a:r>
              <a:rPr lang="en-US" sz="2400" b="1" dirty="0">
                <a:ea typeface="+mn-lt"/>
                <a:cs typeface="+mn-lt"/>
              </a:rPr>
              <a:t>Processor:</a:t>
            </a:r>
            <a:r>
              <a:rPr lang="en-US" sz="2400" dirty="0">
                <a:ea typeface="+mn-lt"/>
                <a:cs typeface="+mn-lt"/>
              </a:rPr>
              <a:t> Intel Core i3 / equivalent or above </a:t>
            </a:r>
            <a:endParaRPr lang="en-US" sz="2400" dirty="0"/>
          </a:p>
          <a:p>
            <a:r>
              <a:rPr lang="en-US" sz="2400" b="1" dirty="0">
                <a:ea typeface="+mn-lt"/>
                <a:cs typeface="+mn-lt"/>
              </a:rPr>
              <a:t>RAM:</a:t>
            </a:r>
            <a:r>
              <a:rPr lang="en-US" sz="2400" dirty="0">
                <a:ea typeface="+mn-lt"/>
                <a:cs typeface="+mn-lt"/>
              </a:rPr>
              <a:t> 8 GB or above </a:t>
            </a:r>
            <a:endParaRPr lang="en-US" sz="2400" dirty="0"/>
          </a:p>
          <a:p>
            <a:r>
              <a:rPr lang="en-US" sz="2400" b="1" dirty="0">
                <a:ea typeface="+mn-lt"/>
                <a:cs typeface="+mn-lt"/>
              </a:rPr>
              <a:t>Storage:</a:t>
            </a:r>
            <a:r>
              <a:rPr lang="en-US" sz="2400" dirty="0">
                <a:ea typeface="+mn-lt"/>
                <a:cs typeface="+mn-lt"/>
              </a:rPr>
              <a:t> 256 GB or above </a:t>
            </a:r>
            <a:endParaRPr lang="en-US" sz="2400" dirty="0"/>
          </a:p>
          <a:p>
            <a:r>
              <a:rPr lang="en-US" sz="2400" b="1" dirty="0">
                <a:ea typeface="+mn-lt"/>
                <a:cs typeface="+mn-lt"/>
              </a:rPr>
              <a:t>Display:</a:t>
            </a:r>
            <a:r>
              <a:rPr lang="en-US" sz="2400" dirty="0">
                <a:ea typeface="+mn-lt"/>
                <a:cs typeface="+mn-lt"/>
              </a:rPr>
              <a:t> Standard monitor </a:t>
            </a:r>
            <a:endParaRPr lang="en-US" sz="2400" dirty="0"/>
          </a:p>
          <a:p>
            <a:r>
              <a:rPr lang="en-US" sz="2400" b="1" dirty="0">
                <a:ea typeface="+mn-lt"/>
                <a:cs typeface="+mn-lt"/>
              </a:rPr>
              <a:t>Internet:</a:t>
            </a:r>
            <a:r>
              <a:rPr lang="en-US" sz="2400" dirty="0">
                <a:ea typeface="+mn-lt"/>
                <a:cs typeface="+mn-lt"/>
              </a:rPr>
              <a:t> Required for data collection/deployment if applicable </a:t>
            </a:r>
            <a:endParaRPr lang="en-US" sz="2400" dirty="0"/>
          </a:p>
          <a:p>
            <a:r>
              <a:rPr lang="en-US" sz="2400" b="1" dirty="0"/>
              <a:t>Software Requirements</a:t>
            </a:r>
          </a:p>
          <a:p>
            <a:r>
              <a:rPr lang="en-US" sz="2400" b="1" dirty="0">
                <a:ea typeface="+mn-lt"/>
                <a:cs typeface="+mn-lt"/>
              </a:rPr>
              <a:t>Operating System:</a:t>
            </a:r>
            <a:r>
              <a:rPr lang="en-US" sz="2400" dirty="0">
                <a:ea typeface="+mn-lt"/>
                <a:cs typeface="+mn-lt"/>
              </a:rPr>
              <a:t> Windows / Linux </a:t>
            </a:r>
            <a:endParaRPr lang="en-US" sz="2400" dirty="0"/>
          </a:p>
          <a:p>
            <a:r>
              <a:rPr lang="en-US" sz="2400" b="1" dirty="0">
                <a:ea typeface="+mn-lt"/>
                <a:cs typeface="+mn-lt"/>
              </a:rPr>
              <a:t>Programming Language:</a:t>
            </a:r>
            <a:r>
              <a:rPr lang="en-US" sz="2400" dirty="0">
                <a:ea typeface="+mn-lt"/>
                <a:cs typeface="+mn-lt"/>
              </a:rPr>
              <a:t> Python </a:t>
            </a:r>
            <a:endParaRPr lang="en-US" sz="2400" dirty="0"/>
          </a:p>
          <a:p>
            <a:r>
              <a:rPr lang="en-US" sz="2400" b="1" dirty="0">
                <a:ea typeface="+mn-lt"/>
                <a:cs typeface="+mn-lt"/>
              </a:rPr>
              <a:t>IDE:</a:t>
            </a:r>
            <a:r>
              <a:rPr lang="en-US" sz="2400" dirty="0">
                <a:ea typeface="+mn-lt"/>
                <a:cs typeface="+mn-lt"/>
              </a:rPr>
              <a:t> VS Code / PyCharm / Jupyter Notebook </a:t>
            </a:r>
            <a:endParaRPr lang="en-US" sz="2400" dirty="0"/>
          </a:p>
          <a:p>
            <a:r>
              <a:rPr lang="en-US" sz="2400" b="1" dirty="0">
                <a:ea typeface="+mn-lt"/>
                <a:cs typeface="+mn-lt"/>
              </a:rPr>
              <a:t>Libraries:</a:t>
            </a:r>
            <a:r>
              <a:rPr lang="en-US" sz="2400" dirty="0">
                <a:ea typeface="+mn-lt"/>
                <a:cs typeface="+mn-lt"/>
              </a:rPr>
              <a:t> Pandas, NumPy, Matplotlib </a:t>
            </a:r>
            <a:endParaRPr lang="en-US" sz="2400" dirty="0"/>
          </a:p>
          <a:p>
            <a:r>
              <a:rPr lang="en-US" sz="2400" b="1" dirty="0">
                <a:ea typeface="+mn-lt"/>
                <a:cs typeface="+mn-lt"/>
              </a:rPr>
              <a:t>Algorithms:</a:t>
            </a:r>
            <a:r>
              <a:rPr lang="en-US" sz="2400" dirty="0">
                <a:ea typeface="+mn-lt"/>
                <a:cs typeface="+mn-lt"/>
              </a:rPr>
              <a:t> Graph-based routing and optimization algorithms </a:t>
            </a:r>
            <a:endParaRPr lang="en-US" sz="2400" dirty="0"/>
          </a:p>
          <a:p>
            <a:r>
              <a:rPr lang="en-US" sz="2400" b="1" dirty="0">
                <a:ea typeface="+mn-lt"/>
                <a:cs typeface="+mn-lt"/>
              </a:rPr>
              <a:t>Database:</a:t>
            </a:r>
            <a:r>
              <a:rPr lang="en-US" sz="2400" dirty="0">
                <a:ea typeface="+mn-lt"/>
                <a:cs typeface="+mn-lt"/>
              </a:rPr>
              <a:t> As required for storing transit data </a:t>
            </a:r>
            <a:endParaRPr lang="en-US" sz="2400" dirty="0"/>
          </a:p>
          <a:p>
            <a:r>
              <a:rPr lang="en-US" sz="2400" b="1" dirty="0">
                <a:ea typeface="+mn-lt"/>
                <a:cs typeface="+mn-lt"/>
              </a:rPr>
              <a:t>Visualization:</a:t>
            </a:r>
            <a:r>
              <a:rPr lang="en-US" sz="2400" dirty="0">
                <a:ea typeface="+mn-lt"/>
                <a:cs typeface="+mn-lt"/>
              </a:rPr>
              <a:t> Matplotlib / relevant visualization tools</a:t>
            </a:r>
            <a:endParaRPr lang="en-US" sz="2400" dirty="0"/>
          </a:p>
          <a:p>
            <a:endParaRPr lang="en-IN" sz="2400"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57A8C2FA-CDED-0B74-F7CC-D530C1A66D6A}"/>
              </a:ext>
            </a:extLst>
          </p:cNvPr>
          <p:cNvSpPr txBox="1"/>
          <p:nvPr/>
        </p:nvSpPr>
        <p:spPr>
          <a:xfrm>
            <a:off x="1363580" y="1524000"/>
            <a:ext cx="944880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ea typeface="+mn-lt"/>
                <a:cs typeface="+mn-lt"/>
              </a:rPr>
              <a:t>The Public Transit Planner provides a data-driven solution for public transportation planning. </a:t>
            </a:r>
            <a:endParaRPr lang="en-US" sz="2400" dirty="0"/>
          </a:p>
          <a:p>
            <a:pPr marL="342900" indent="-342900">
              <a:buFont typeface="Arial" panose="020B0604020202020204" pitchFamily="34" charset="0"/>
              <a:buChar char="•"/>
            </a:pPr>
            <a:r>
              <a:rPr lang="en-US" sz="2400" dirty="0">
                <a:ea typeface="+mn-lt"/>
                <a:cs typeface="+mn-lt"/>
              </a:rPr>
              <a:t>Transit data is processed and analyzed to improve route selection and scheduling. </a:t>
            </a:r>
            <a:endParaRPr lang="en-US" sz="2400" dirty="0"/>
          </a:p>
          <a:p>
            <a:pPr marL="342900" indent="-342900">
              <a:buFont typeface="Arial" panose="020B0604020202020204" pitchFamily="34" charset="0"/>
              <a:buChar char="•"/>
            </a:pPr>
            <a:r>
              <a:rPr lang="en-US" sz="2400" dirty="0">
                <a:ea typeface="+mn-lt"/>
                <a:cs typeface="+mn-lt"/>
              </a:rPr>
              <a:t>Graph-based routing helps identify efficient transportation paths. </a:t>
            </a:r>
            <a:endParaRPr lang="en-US" sz="2400" dirty="0"/>
          </a:p>
          <a:p>
            <a:pPr marL="342900" indent="-342900">
              <a:buFont typeface="Arial" panose="020B0604020202020204" pitchFamily="34" charset="0"/>
              <a:buChar char="•"/>
            </a:pPr>
            <a:r>
              <a:rPr lang="en-US" sz="2400" dirty="0">
                <a:ea typeface="+mn-lt"/>
                <a:cs typeface="+mn-lt"/>
              </a:rPr>
              <a:t>Optimization helps balance service quality, fleet availability, and operational cost. </a:t>
            </a:r>
            <a:endParaRPr lang="en-US" sz="2400" dirty="0"/>
          </a:p>
          <a:p>
            <a:pPr marL="342900" indent="-342900">
              <a:buFont typeface="Arial" panose="020B0604020202020204" pitchFamily="34" charset="0"/>
              <a:buChar char="•"/>
            </a:pPr>
            <a:r>
              <a:rPr lang="en-US" sz="2400" dirty="0">
                <a:ea typeface="+mn-lt"/>
                <a:cs typeface="+mn-lt"/>
              </a:rPr>
              <a:t>Performance metrics allow different planning scenarios to be evaluated. </a:t>
            </a:r>
            <a:endParaRPr lang="en-US" sz="2400" dirty="0"/>
          </a:p>
          <a:p>
            <a:pPr marL="342900" indent="-342900">
              <a:buFont typeface="Arial" panose="020B0604020202020204" pitchFamily="34" charset="0"/>
              <a:buChar char="•"/>
            </a:pPr>
            <a:r>
              <a:rPr lang="en-US" sz="2400" dirty="0">
                <a:ea typeface="+mn-lt"/>
                <a:cs typeface="+mn-lt"/>
              </a:rPr>
              <a:t>The system can support transportation planners in making informed decisions.</a:t>
            </a:r>
            <a:endParaRPr lang="en-US" sz="2400" dirty="0"/>
          </a:p>
          <a:p>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F03333AD-A6B8-BCD2-3ECC-ACD2097E361D}"/>
              </a:ext>
            </a:extLst>
          </p:cNvPr>
          <p:cNvSpPr txBox="1"/>
          <p:nvPr/>
        </p:nvSpPr>
        <p:spPr>
          <a:xfrm>
            <a:off x="1110343" y="1231641"/>
            <a:ext cx="10262362"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ea typeface="+mn-lt"/>
                <a:cs typeface="+mn-lt"/>
              </a:rPr>
              <a:t>Integration with real-time GPS/bus location data. </a:t>
            </a:r>
          </a:p>
          <a:p>
            <a:pPr marL="342900" indent="-342900">
              <a:buFont typeface="Arial" panose="020B0604020202020204" pitchFamily="34" charset="0"/>
              <a:buChar char="•"/>
            </a:pPr>
            <a:r>
              <a:rPr lang="en-US" sz="2400" dirty="0">
                <a:ea typeface="+mn-lt"/>
                <a:cs typeface="+mn-lt"/>
              </a:rPr>
              <a:t>Real-time traffic-aware route optimization. </a:t>
            </a:r>
            <a:endParaRPr lang="en-US" sz="2400" dirty="0"/>
          </a:p>
          <a:p>
            <a:pPr marL="342900" indent="-342900">
              <a:buFont typeface="Arial" panose="020B0604020202020204" pitchFamily="34" charset="0"/>
              <a:buChar char="•"/>
            </a:pPr>
            <a:r>
              <a:rPr lang="en-US" sz="2400" dirty="0">
                <a:ea typeface="+mn-lt"/>
                <a:cs typeface="+mn-lt"/>
              </a:rPr>
              <a:t>Prediction of passenger demand using Machine Learning. </a:t>
            </a:r>
            <a:endParaRPr lang="en-US" sz="2400" dirty="0"/>
          </a:p>
          <a:p>
            <a:pPr marL="342900" indent="-342900">
              <a:buFont typeface="Arial" panose="020B0604020202020204" pitchFamily="34" charset="0"/>
              <a:buChar char="•"/>
            </a:pPr>
            <a:r>
              <a:rPr lang="en-US" sz="2400" dirty="0">
                <a:ea typeface="+mn-lt"/>
                <a:cs typeface="+mn-lt"/>
              </a:rPr>
              <a:t>Dynamic timetable generation based on current demand. </a:t>
            </a:r>
            <a:endParaRPr lang="en-US" sz="2400" dirty="0"/>
          </a:p>
          <a:p>
            <a:pPr marL="342900" indent="-342900">
              <a:buFont typeface="Arial" panose="020B0604020202020204" pitchFamily="34" charset="0"/>
              <a:buChar char="•"/>
            </a:pPr>
            <a:r>
              <a:rPr lang="en-US" sz="2400" dirty="0">
                <a:ea typeface="+mn-lt"/>
                <a:cs typeface="+mn-lt"/>
              </a:rPr>
              <a:t>Mobile/web application for passengers. </a:t>
            </a:r>
            <a:endParaRPr lang="en-US" sz="2400" dirty="0"/>
          </a:p>
          <a:p>
            <a:pPr marL="342900" indent="-342900">
              <a:buFont typeface="Arial" panose="020B0604020202020204" pitchFamily="34" charset="0"/>
              <a:buChar char="•"/>
            </a:pPr>
            <a:r>
              <a:rPr lang="en-US" sz="2400" dirty="0">
                <a:ea typeface="+mn-lt"/>
                <a:cs typeface="+mn-lt"/>
              </a:rPr>
              <a:t>Real-time arrival and delay notifications. </a:t>
            </a:r>
            <a:endParaRPr lang="en-US" sz="2400" dirty="0"/>
          </a:p>
          <a:p>
            <a:pPr marL="342900" indent="-342900">
              <a:buFont typeface="Arial" panose="020B0604020202020204" pitchFamily="34" charset="0"/>
              <a:buChar char="•"/>
            </a:pPr>
            <a:r>
              <a:rPr lang="en-US" sz="2400" dirty="0">
                <a:ea typeface="+mn-lt"/>
                <a:cs typeface="+mn-lt"/>
              </a:rPr>
              <a:t>Integration with multiple transportation modes such as bus, metro, and rail. </a:t>
            </a:r>
            <a:endParaRPr lang="en-US" sz="2400" dirty="0"/>
          </a:p>
          <a:p>
            <a:pPr marL="342900" indent="-342900">
              <a:buFont typeface="Arial" panose="020B0604020202020204" pitchFamily="34" charset="0"/>
              <a:buChar char="•"/>
            </a:pPr>
            <a:r>
              <a:rPr lang="en-US" sz="2400" dirty="0">
                <a:ea typeface="+mn-lt"/>
                <a:cs typeface="+mn-lt"/>
              </a:rPr>
              <a:t>Advanced optimization for large-scale city transportation networks. </a:t>
            </a:r>
            <a:endParaRPr lang="en-US" sz="2400" dirty="0"/>
          </a:p>
          <a:p>
            <a:pPr marL="342900" indent="-342900">
              <a:buFont typeface="Arial" panose="020B0604020202020204" pitchFamily="34" charset="0"/>
              <a:buChar char="•"/>
            </a:pPr>
            <a:r>
              <a:rPr lang="en-US" sz="2400" dirty="0"/>
              <a:t>Suggested PPT order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773</Words>
  <Application>Microsoft Office PowerPoint</Application>
  <PresentationFormat>Widescreen</PresentationFormat>
  <Paragraphs>115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Title of the project : PUBLIC TRANSIT PLANNER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sreekar rao</cp:lastModifiedBy>
  <cp:revision>21</cp:revision>
  <dcterms:created xsi:type="dcterms:W3CDTF">2024-08-29T05:25:00Z</dcterms:created>
  <dcterms:modified xsi:type="dcterms:W3CDTF">2026-10-06T08:22:54Z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